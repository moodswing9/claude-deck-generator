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scale to capture executive attention. Source: Statista and Grand View Research projections. This sets the commercial and strategic context for the entire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a clear map of the presentation. Three major sections plus a forward-looking close. This helps the audience anchor expectations and track the narrative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into the first major theme — how AI is fundamentally reshaping clinical diagnosis and treatment personalization.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four proven high-impact use cases. Emphasize that these are not theoretical — they are deployed in leading health systems today. Reference studies from Mayo Clinic, Google Health, and Mount Sinai.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 the diagnostic section with a concrete, peer-reviewed data point. Source: Nature Medicine, 2020 study by Google Health across US and UK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the narrative from clinical applications to enterprise-wide operational gains — where CFOs and COOs see immediate ROI.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 AI as an operational lever, not just a clinical tool. These use cases resonate with non-clinical executives and board members focused on margin improvement and workforce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Proactively address the number-one concern in any AI discussion — job displacement. Frame AI as a force multiplier for clinicians. Reference AMA physician sentiment surveys showing growing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the critical guardrails discussion. Credibility requires acknowledging challenges head-on rather than presenting an uncritical optimism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direct about obstacles. Each bullet maps to a real barrier that has slowed enterprise adoption. Position these not as reasons to delay but as problems that demand strategic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credible clinical-academic voice to elevate the ethical argument. Topol is widely respected across clinical and technology audiences, lending authority to the governance imperative.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actionable, prioritized next steps. This is the 'so what' slide that transforms insight into executive action. Each bullet is designed to be assignable to a specific C-suite owner.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71600"/>
            <a:ext cx="457200" cy="237744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9144000" cy="73152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D1B2A"/>
                </a:solidFill>
                <a:latin typeface="Calibri"/>
              </a:rPr>
              <a:t>The Future of AI in Healthcare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55657A"/>
                </a:solidFill>
                <a:latin typeface="Calibri"/>
              </a:rPr>
              <a:t>Transforming Patient Outcomes Through Intelligent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55657A"/>
                </a:solidFill>
                <a:latin typeface="Calibri"/>
              </a:rPr>
              <a:t>The Opportunity Before Us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60120"/>
            <a:ext cx="1828800" cy="36576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B88600"/>
                </a:solidFill>
                <a:latin typeface="Calibri"/>
              </a:rPr>
              <a:t>$187B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D1B2A"/>
                </a:solidFill>
                <a:latin typeface="Calibri"/>
              </a:rPr>
              <a:t>Projected AI in healthcare market size by 2030 — a 10x increase from 2023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Today's 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The diagnostic revolution: AI-powered precision medicine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Operational transformation: from back office to bedside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Navigating risks: ethics, regulation, and trust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A strategic roadmap for healthcare leaders</a:t>
            </a:r>
            <a: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8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5F4F0"/>
                </a:solidFill>
                <a:latin typeface="Calibri"/>
              </a:rPr>
              <a:t>Section 1: The Diagnostic Revolution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AI Is Redefining Clinical Accuracy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Deep learning detects cancers earlier than human radiologists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Genomic AI tailors drug therapies to individual patients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Predictive models identify at-risk populations before symptoms appear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NLP extracts insights from millions of unstructured clinical notes</a:t>
            </a:r>
            <a: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55657A"/>
                </a:solidFill>
                <a:latin typeface="Calibri"/>
              </a:rPr>
              <a:t>Diagnostic Impact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60120"/>
            <a:ext cx="1828800" cy="36576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>
                <a:solidFill>
                  <a:srgbClr val="B88600"/>
                </a:solidFill>
                <a:latin typeface="Calibri"/>
              </a:rPr>
              <a:t>94.5%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D1B2A"/>
                </a:solidFill>
                <a:latin typeface="Calibri"/>
              </a:rPr>
              <a:t>Accuracy of AI in detecting breast cancer in screening mammograms — surpassing average radiologist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8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5F4F0"/>
                </a:solidFill>
                <a:latin typeface="Calibri"/>
              </a:rPr>
              <a:t>Section 2: Operational Transformation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Unlocking Efficiency Across the Enterprise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Automated scheduling reduces patient wait times by 30%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AI-driven coding accelerates revenue cycle management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Virtual nursing assistants handle 60% of routine inquiries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Supply chain optimization cuts pharmaceutical waste significantly</a:t>
            </a:r>
            <a: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Workforce Augmentation, Not Replacement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AI handles administrative burden so clinicians treat patients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Burnout reduction through intelligent workload distribution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Upskilling programs create new AI-literate clinical roles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Human-AI collaboration outperforms either working alone</a:t>
            </a:r>
            <a: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886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5F4F0"/>
                </a:solidFill>
                <a:latin typeface="Calibri"/>
              </a:rPr>
              <a:t>Section 3: Navigating Risk and Building Trust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The Critical Barriers to Scaled Adoption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Algorithmic bias risks widening existing health disparities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Regulatory frameworks lag behind the pace of innovation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Data privacy concerns limit cross-institutional collaboration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Black-box models erode clinician and patient trust</a:t>
            </a:r>
            <a: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B88600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0D1B2A"/>
                </a:solidFill>
                <a:latin typeface="Calibri"/>
              </a:rPr>
              <a:t>The question is not whether AI will transform healthcare — it is whether we will govern it wisely enough to ensure it transforms healthcare equitably.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657A"/>
                </a:solidFill>
                <a:latin typeface="Calibri"/>
              </a:rPr>
              <a:t>— Dr. Eric Topol, Scripps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297680"/>
            <a:ext cx="1828800" cy="36576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005840"/>
            <a:ext cx="54864" cy="502920"/>
          </a:xfrm>
          <a:prstGeom prst="rect">
            <a:avLst/>
          </a:prstGeom>
          <a:solidFill>
            <a:srgbClr val="B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1B2A"/>
                </a:solidFill>
                <a:latin typeface="Calibri"/>
              </a:rPr>
              <a:t>A Strategic Roadmap for Leaders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8229600" cy="18288"/>
          </a:xfrm>
          <a:prstGeom prst="rect">
            <a:avLst/>
          </a:prstGeom>
          <a:solidFill>
            <a:srgbClr val="E2D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8046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Invest in curated, interoperable data infrastructure now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Establish AI governance boards with clinical representation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Launch pilot programs with measurable 90-day outcome targets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Build strategic partnerships across payers, providers, and tech</a:t>
            </a:r>
            <a:r>
              <a:t/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0D1B2A"/>
                </a:solidFill>
                <a:latin typeface="Calibri"/>
              </a:rPr>
              <a:t>  Champion transparency to earn patient and regulator trust</a:t>
            </a:r>
            <a: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