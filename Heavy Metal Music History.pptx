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audience and set the tone. Mention that heavy metal is one of the most enduring and influential genres in music history, spanning over five decades and influencing countless subgenres and cultural movements.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audience through the roadmap of the presentation. Emphasize that we will cover not just the music but also the cultural, social, and technological factors that shaped heavy metal over the decades.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the late 1960s saw musicians experimenting with louder, heavier sounds. Black Sabbath is widely credited as the first true heavy metal band with their self-titled 1970 album, but the seeds were planted throughout the 1960s. Mention the influence of blues artists like Muddy Waters and Howlin' Wolf on the genre's DNA.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1970s is when heavy metal truly became its own distinct genre. Discuss how Judas Priest stripped away the blues influence and created a more purely metallic sound. Mention how the genre developed its own visual identity, fan culture, and concert traditions during this pivotal decade.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1980s was arguably metal's most commercially successful and culturally visible decade. Discuss the contrast between the underground thrash movement and the mainstream glam scene. Mention the PMRC congressional hearings where Dee Snider of Twisted Sister famously testified. The decade ended with metal at a crossroads as grunge loomed on the horizon.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1990s was a period of crisis and reinvention for heavy metal. While mainstream attention shifted to grunge and alternative rock, the underground metal scene exploded with creativity. Discuss how the decade's diversification ultimately strengthened the genre by creating multiple thriving subgenres with dedicated fan bases.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how the internet transformed how metal is consumed, discovered, and shared. Mention that despite predictions of the genre's decline, metal has proven remarkably resilient. New bands emerge constantly from every corner of the globe, and the festival circuit is stronger than ever. Metal has also gained academic respectability with university courses and scholarly research dedicated to the genre.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heavy metal's cultural impact extends far beyond the music itself. Discuss the sense of identity and community the genre provides its fans. Mention notable cultural touchstones like the 'metal horns' hand gesture popularized by Ronnie James Dio, the influence on horror films, and how metal has become a subject of serious academic study in musicology and sociology.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an energizing summary. Reinforce that heavy metal's longevity is a testament to its authenticity, emotional power, and the strength of its community. Invite questions and discussion. Consider playing a brief iconic metal riff or clip to close the presentation on a high-energy note.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open for Q&amp;A. Have a curated playlist of essential tracks from each era ready to share. Be prepared for passionate opinions — metal fans love to debate! Consider asking the audience about their own favorite metal bands or eras to spark engaging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2926080"/>
            <a:ext cx="9144000" cy="1097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8229600" cy="1371600"/>
          </a:xfrm>
          <a:prstGeom prst="rect">
            <a:avLst/>
          </a:prstGeom>
          <a:noFill/>
        </p:spPr>
        <p:txBody>
          <a:bodyPr wrap="square">
            <a:spAutoFit/>
          </a:bodyPr>
          <a:lstStyle/>
          <a:p>
            <a:pPr algn="l"/>
            <a:r>
              <a:rPr sz="4000" b="1">
                <a:solidFill>
                  <a:srgbClr val="111827"/>
                </a:solidFill>
                <a:latin typeface="Calibri"/>
              </a:rPr>
              <a:t>The History of Heavy Metal Music</a:t>
            </a:r>
          </a:p>
        </p:txBody>
      </p:sp>
      <p:sp>
        <p:nvSpPr>
          <p:cNvPr id="4" name="TextBox 3"/>
          <p:cNvSpPr txBox="1"/>
          <p:nvPr/>
        </p:nvSpPr>
        <p:spPr>
          <a:xfrm>
            <a:off x="457200" y="3017520"/>
            <a:ext cx="8229600" cy="457200"/>
          </a:xfrm>
          <a:prstGeom prst="rect">
            <a:avLst/>
          </a:prstGeom>
          <a:noFill/>
        </p:spPr>
        <p:txBody>
          <a:bodyPr wrap="square">
            <a:spAutoFit/>
          </a:bodyPr>
          <a:lstStyle/>
          <a:p>
            <a:pPr algn="l"/>
            <a:r>
              <a:rPr sz="1800" b="0">
                <a:solidFill>
                  <a:srgbClr val="6B7280"/>
                </a:solidFill>
                <a:latin typeface="Calibri"/>
              </a:rPr>
              <a:t>AI-Generated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The History of Heavy Metal Music</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From Blues Roots to Global Phenomenon</a:t>
            </a:r>
          </a:p>
          <a:p>
            <a:pPr>
              <a:spcBef>
                <a:spcPts val="600"/>
              </a:spcBef>
            </a:pPr>
            <a:r>
              <a:rPr sz="1800">
                <a:solidFill>
                  <a:srgbClr val="111827"/>
                </a:solidFill>
                <a:latin typeface="Calibri"/>
              </a:rPr>
              <a:t>▸  A Journey Through Decades of Power, Rebellion, and Innovation</a:t>
            </a:r>
          </a:p>
          <a:p>
            <a:pPr>
              <a:spcBef>
                <a:spcPts val="600"/>
              </a:spcBef>
            </a:pPr>
            <a:r>
              <a:rPr sz="1800">
                <a:solidFill>
                  <a:srgbClr val="111827"/>
                </a:solidFill>
                <a:latin typeface="Calibri"/>
              </a:rPr>
              <a:t>▸  Presented by [Your Name]</a:t>
            </a:r>
          </a:p>
          <a:p>
            <a:pPr>
              <a:spcBef>
                <a:spcPts val="600"/>
              </a:spcBef>
            </a:pPr>
            <a:r>
              <a:rPr sz="1800">
                <a:solidFill>
                  <a:srgbClr val="111827"/>
                </a:solidFill>
                <a:latin typeface="Calibri"/>
              </a:rPr>
              <a:t>▸  [Date]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Agenda</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The Origins: Blues, Rock, and the Birth of Heavy Sound (1960s)</a:t>
            </a:r>
          </a:p>
          <a:p>
            <a:pPr>
              <a:spcBef>
                <a:spcPts val="600"/>
              </a:spcBef>
            </a:pPr>
            <a:r>
              <a:rPr sz="1800">
                <a:solidFill>
                  <a:srgbClr val="111827"/>
                </a:solidFill>
                <a:latin typeface="Calibri"/>
              </a:rPr>
              <a:t>▸  The Golden Era: Metal Takes Shape (1970s)</a:t>
            </a:r>
          </a:p>
          <a:p>
            <a:pPr>
              <a:spcBef>
                <a:spcPts val="600"/>
              </a:spcBef>
            </a:pPr>
            <a:r>
              <a:rPr sz="1800">
                <a:solidFill>
                  <a:srgbClr val="111827"/>
                </a:solidFill>
                <a:latin typeface="Calibri"/>
              </a:rPr>
              <a:t>▸  The New Wave of British Heavy Metal &amp; Thrash (1980s)</a:t>
            </a:r>
          </a:p>
          <a:p>
            <a:pPr>
              <a:spcBef>
                <a:spcPts val="600"/>
              </a:spcBef>
            </a:pPr>
            <a:r>
              <a:rPr sz="1800">
                <a:solidFill>
                  <a:srgbClr val="111827"/>
                </a:solidFill>
                <a:latin typeface="Calibri"/>
              </a:rPr>
              <a:t>▸  Diversification and Subgenre Explosion (1990s)</a:t>
            </a:r>
          </a:p>
          <a:p>
            <a:pPr>
              <a:spcBef>
                <a:spcPts val="600"/>
              </a:spcBef>
            </a:pPr>
            <a:r>
              <a:rPr sz="1800">
                <a:solidFill>
                  <a:srgbClr val="111827"/>
                </a:solidFill>
                <a:latin typeface="Calibri"/>
              </a:rPr>
              <a:t>▸  Modern Metal and the Digital Age (2000s–Present)</a:t>
            </a:r>
          </a:p>
          <a:p>
            <a:pPr>
              <a:spcBef>
                <a:spcPts val="600"/>
              </a:spcBef>
            </a:pPr>
            <a:r>
              <a:rPr sz="1800">
                <a:solidFill>
                  <a:srgbClr val="111827"/>
                </a:solidFill>
                <a:latin typeface="Calibri"/>
              </a:rPr>
              <a:t>▸  Cultural Impact and Legacy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The Origins: Roots of Heavy Metal (1960s)</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Blues music provided the foundation — distorted guitars, powerful vocals, and raw emotion</a:t>
            </a:r>
          </a:p>
          <a:p>
            <a:pPr>
              <a:spcBef>
                <a:spcPts val="600"/>
              </a:spcBef>
            </a:pPr>
            <a:r>
              <a:rPr sz="1800">
                <a:solidFill>
                  <a:srgbClr val="111827"/>
                </a:solidFill>
                <a:latin typeface="Calibri"/>
              </a:rPr>
              <a:t>▸  Key pioneers: Black Sabbath, Led Zeppelin, Deep Purple, and Blue Cheer</a:t>
            </a:r>
          </a:p>
          <a:p>
            <a:pPr>
              <a:spcBef>
                <a:spcPts val="600"/>
              </a:spcBef>
            </a:pPr>
            <a:r>
              <a:rPr sz="1800">
                <a:solidFill>
                  <a:srgbClr val="111827"/>
                </a:solidFill>
                <a:latin typeface="Calibri"/>
              </a:rPr>
              <a:t>▸  Jimi Hendrix and Cream pushed amplifier technology and guitar distortion to new limits</a:t>
            </a:r>
          </a:p>
          <a:p>
            <a:pPr>
              <a:spcBef>
                <a:spcPts val="600"/>
              </a:spcBef>
            </a:pPr>
            <a:r>
              <a:rPr sz="1800">
                <a:solidFill>
                  <a:srgbClr val="111827"/>
                </a:solidFill>
                <a:latin typeface="Calibri"/>
              </a:rPr>
              <a:t>▸  The term 'heavy metal' first appeared in Steppenwolf's 'Born to Be Wild' (1968)</a:t>
            </a:r>
          </a:p>
          <a:p>
            <a:pPr>
              <a:spcBef>
                <a:spcPts val="600"/>
              </a:spcBef>
            </a:pPr>
            <a:r>
              <a:rPr sz="1800">
                <a:solidFill>
                  <a:srgbClr val="111827"/>
                </a:solidFill>
                <a:latin typeface="Calibri"/>
              </a:rPr>
              <a:t>▸  Cultural context: Vietnam War, counterculture, and youthful rebellion fueled aggressive sound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The Golden Era: Metal Defined (1970s)</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Black Sabbath's 'Paranoid' (1970) and 'Master of Reality' (1971) set the blueprint</a:t>
            </a:r>
          </a:p>
          <a:p>
            <a:pPr>
              <a:spcBef>
                <a:spcPts val="600"/>
              </a:spcBef>
            </a:pPr>
            <a:r>
              <a:rPr sz="1800">
                <a:solidFill>
                  <a:srgbClr val="111827"/>
                </a:solidFill>
                <a:latin typeface="Calibri"/>
              </a:rPr>
              <a:t>▸  Judas Priest introduced the twin-guitar attack and leather-clad aesthetic</a:t>
            </a:r>
          </a:p>
          <a:p>
            <a:pPr>
              <a:spcBef>
                <a:spcPts val="600"/>
              </a:spcBef>
            </a:pPr>
            <a:r>
              <a:rPr sz="1800">
                <a:solidFill>
                  <a:srgbClr val="111827"/>
                </a:solidFill>
                <a:latin typeface="Calibri"/>
              </a:rPr>
              <a:t>▸  Motörhead bridged punk and metal with blistering speed and attitude</a:t>
            </a:r>
          </a:p>
          <a:p>
            <a:pPr>
              <a:spcBef>
                <a:spcPts val="600"/>
              </a:spcBef>
            </a:pPr>
            <a:r>
              <a:rPr sz="1800">
                <a:solidFill>
                  <a:srgbClr val="111827"/>
                </a:solidFill>
                <a:latin typeface="Calibri"/>
              </a:rPr>
              <a:t>▸  Rainbow, Scorpions, and UFO expanded metal's reach across Europe</a:t>
            </a:r>
          </a:p>
          <a:p>
            <a:pPr>
              <a:spcBef>
                <a:spcPts val="600"/>
              </a:spcBef>
            </a:pPr>
            <a:r>
              <a:rPr sz="1800">
                <a:solidFill>
                  <a:srgbClr val="111827"/>
                </a:solidFill>
                <a:latin typeface="Calibri"/>
              </a:rPr>
              <a:t>▸  Arena rock and theatrical performances became central to the metal experience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NWOBHM &amp; The Thrash Revolution (1980s)</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New Wave of British Heavy Metal (NWOBHM): Iron Maiden, Def Leppard, Saxon revitalized the genre</a:t>
            </a:r>
          </a:p>
          <a:p>
            <a:pPr>
              <a:spcBef>
                <a:spcPts val="600"/>
              </a:spcBef>
            </a:pPr>
            <a:r>
              <a:rPr sz="1800">
                <a:solidFill>
                  <a:srgbClr val="111827"/>
                </a:solidFill>
                <a:latin typeface="Calibri"/>
              </a:rPr>
              <a:t>▸  Thrash metal emerged: Metallica, Slayer, Megadeth, and Anthrax ('The Big Four')</a:t>
            </a:r>
          </a:p>
          <a:p>
            <a:pPr>
              <a:spcBef>
                <a:spcPts val="600"/>
              </a:spcBef>
            </a:pPr>
            <a:r>
              <a:rPr sz="1800">
                <a:solidFill>
                  <a:srgbClr val="111827"/>
                </a:solidFill>
                <a:latin typeface="Calibri"/>
              </a:rPr>
              <a:t>▸  Glam metal dominated mainstream with Mötley Crüe, Poison, and Bon Jovi</a:t>
            </a:r>
          </a:p>
          <a:p>
            <a:pPr>
              <a:spcBef>
                <a:spcPts val="600"/>
              </a:spcBef>
            </a:pPr>
            <a:r>
              <a:rPr sz="1800">
                <a:solidFill>
                  <a:srgbClr val="111827"/>
                </a:solidFill>
                <a:latin typeface="Calibri"/>
              </a:rPr>
              <a:t>▸  MTV amplified metal's visibility — music videos became essential marketing tools</a:t>
            </a:r>
          </a:p>
          <a:p>
            <a:pPr>
              <a:spcBef>
                <a:spcPts val="600"/>
              </a:spcBef>
            </a:pPr>
            <a:r>
              <a:rPr sz="1800">
                <a:solidFill>
                  <a:srgbClr val="111827"/>
                </a:solidFill>
                <a:latin typeface="Calibri"/>
              </a:rPr>
              <a:t>▸  Metal faced controversy: PMRC hearings, censorship battles, and the 'Satanic Panic'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Diversification and New Directions (1990s)</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Grunge (Nirvana, Alice in Chains) disrupted traditional metal's commercial dominance</a:t>
            </a:r>
          </a:p>
          <a:p>
            <a:pPr>
              <a:spcBef>
                <a:spcPts val="600"/>
              </a:spcBef>
            </a:pPr>
            <a:r>
              <a:rPr sz="1800">
                <a:solidFill>
                  <a:srgbClr val="111827"/>
                </a:solidFill>
                <a:latin typeface="Calibri"/>
              </a:rPr>
              <a:t>▸  Nu-metal emerged: Korn, Limp Bizkit, and Deftones blended metal with hip-hop and alternative</a:t>
            </a:r>
          </a:p>
          <a:p>
            <a:pPr>
              <a:spcBef>
                <a:spcPts val="600"/>
              </a:spcBef>
            </a:pPr>
            <a:r>
              <a:rPr sz="1800">
                <a:solidFill>
                  <a:srgbClr val="111827"/>
                </a:solidFill>
                <a:latin typeface="Calibri"/>
              </a:rPr>
              <a:t>▸  Death metal (Death, Cannibal Corpse) and black metal (Mayhem, Burzum) pushed extremes</a:t>
            </a:r>
          </a:p>
          <a:p>
            <a:pPr>
              <a:spcBef>
                <a:spcPts val="600"/>
              </a:spcBef>
            </a:pPr>
            <a:r>
              <a:rPr sz="1800">
                <a:solidFill>
                  <a:srgbClr val="111827"/>
                </a:solidFill>
                <a:latin typeface="Calibri"/>
              </a:rPr>
              <a:t>▸  Pantera's groove metal and Tool's progressive approach redefined heaviness</a:t>
            </a:r>
          </a:p>
          <a:p>
            <a:pPr>
              <a:spcBef>
                <a:spcPts val="600"/>
              </a:spcBef>
            </a:pPr>
            <a:r>
              <a:rPr sz="1800">
                <a:solidFill>
                  <a:srgbClr val="111827"/>
                </a:solidFill>
                <a:latin typeface="Calibri"/>
              </a:rPr>
              <a:t>▸  European power metal and symphonic metal (Nightwish, Blind Guardian) gained massive followings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Modern Metal &amp; The Digital Age (2000s–Present)</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Metalcore (Killswitch Engage, As I Lay Dying) and djent (Meshuggah, Periphery) broke new ground</a:t>
            </a:r>
          </a:p>
          <a:p>
            <a:pPr>
              <a:spcBef>
                <a:spcPts val="600"/>
              </a:spcBef>
            </a:pPr>
            <a:r>
              <a:rPr sz="1800">
                <a:solidFill>
                  <a:srgbClr val="111827"/>
                </a:solidFill>
                <a:latin typeface="Calibri"/>
              </a:rPr>
              <a:t>▸  Streaming platforms and social media democratized music discovery and distribution</a:t>
            </a:r>
          </a:p>
          <a:p>
            <a:pPr>
              <a:spcBef>
                <a:spcPts val="600"/>
              </a:spcBef>
            </a:pPr>
            <a:r>
              <a:rPr sz="1800">
                <a:solidFill>
                  <a:srgbClr val="111827"/>
                </a:solidFill>
                <a:latin typeface="Calibri"/>
              </a:rPr>
              <a:t>▸  Legacy bands continue to sell out stadiums — Iron Maiden, Metallica, and Slayer farewell tours</a:t>
            </a:r>
          </a:p>
          <a:p>
            <a:pPr>
              <a:spcBef>
                <a:spcPts val="600"/>
              </a:spcBef>
            </a:pPr>
            <a:r>
              <a:rPr sz="1800">
                <a:solidFill>
                  <a:srgbClr val="111827"/>
                </a:solidFill>
                <a:latin typeface="Calibri"/>
              </a:rPr>
              <a:t>▸  Genre-blending accelerates: Babymetal, Deafheaven, and Poppy defy traditional boundaries</a:t>
            </a:r>
          </a:p>
          <a:p>
            <a:pPr>
              <a:spcBef>
                <a:spcPts val="600"/>
              </a:spcBef>
            </a:pPr>
            <a:r>
              <a:rPr sz="1800">
                <a:solidFill>
                  <a:srgbClr val="111827"/>
                </a:solidFill>
                <a:latin typeface="Calibri"/>
              </a:rPr>
              <a:t>▸  Metal festivals (Wacken, Download, Hellfest) draw hundreds of thousands globally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Cultural Impact and Legacy</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Heavy metal is a truly global phenomenon — thriving scenes on every continent</a:t>
            </a:r>
          </a:p>
          <a:p>
            <a:pPr>
              <a:spcBef>
                <a:spcPts val="600"/>
              </a:spcBef>
            </a:pPr>
            <a:r>
              <a:rPr sz="1800">
                <a:solidFill>
                  <a:srgbClr val="111827"/>
                </a:solidFill>
                <a:latin typeface="Calibri"/>
              </a:rPr>
              <a:t>▸  The genre fostered a uniquely loyal and dedicated fan community</a:t>
            </a:r>
          </a:p>
          <a:p>
            <a:pPr>
              <a:spcBef>
                <a:spcPts val="600"/>
              </a:spcBef>
            </a:pPr>
            <a:r>
              <a:rPr sz="1800">
                <a:solidFill>
                  <a:srgbClr val="111827"/>
                </a:solidFill>
                <a:latin typeface="Calibri"/>
              </a:rPr>
              <a:t>▸  Metal influenced fashion, visual arts, film, and even classical music composition</a:t>
            </a:r>
          </a:p>
          <a:p>
            <a:pPr>
              <a:spcBef>
                <a:spcPts val="600"/>
              </a:spcBef>
            </a:pPr>
            <a:r>
              <a:rPr sz="1800">
                <a:solidFill>
                  <a:srgbClr val="111827"/>
                </a:solidFill>
                <a:latin typeface="Calibri"/>
              </a:rPr>
              <a:t>▸  Studies show metal fans report high levels of happiness and community belonging</a:t>
            </a:r>
          </a:p>
          <a:p>
            <a:pPr>
              <a:spcBef>
                <a:spcPts val="600"/>
              </a:spcBef>
            </a:pPr>
            <a:r>
              <a:rPr sz="1800">
                <a:solidFill>
                  <a:srgbClr val="111827"/>
                </a:solidFill>
                <a:latin typeface="Calibri"/>
              </a:rPr>
              <a:t>▸  The genre continues to evolve while honoring its roots and traditions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Conclusion: Metal Lives On</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From Black Sabbath's first riff to today's genre-bending innovators — metal endures</a:t>
            </a:r>
          </a:p>
          <a:p>
            <a:pPr>
              <a:spcBef>
                <a:spcPts val="600"/>
              </a:spcBef>
            </a:pPr>
            <a:r>
              <a:rPr sz="1800">
                <a:solidFill>
                  <a:srgbClr val="111827"/>
                </a:solidFill>
                <a:latin typeface="Calibri"/>
              </a:rPr>
              <a:t>▸  Over 50 years of evolution proves the genre's remarkable adaptability</a:t>
            </a:r>
          </a:p>
          <a:p>
            <a:pPr>
              <a:spcBef>
                <a:spcPts val="600"/>
              </a:spcBef>
            </a:pPr>
            <a:r>
              <a:rPr sz="1800">
                <a:solidFill>
                  <a:srgbClr val="111827"/>
                </a:solidFill>
                <a:latin typeface="Calibri"/>
              </a:rPr>
              <a:t>▸  Heavy metal remains one of the most passionate and united music communities worldwide</a:t>
            </a:r>
          </a:p>
          <a:p>
            <a:pPr>
              <a:spcBef>
                <a:spcPts val="600"/>
              </a:spcBef>
            </a:pPr>
            <a:r>
              <a:rPr sz="1800">
                <a:solidFill>
                  <a:srgbClr val="111827"/>
                </a:solidFill>
                <a:latin typeface="Calibri"/>
              </a:rPr>
              <a:t>▸  The future is bright: new talent, new technology, and new audiences ensure metal's survival</a:t>
            </a:r>
          </a:p>
          <a:p>
            <a:pPr>
              <a:spcBef>
                <a:spcPts val="600"/>
              </a:spcBef>
            </a:pPr>
            <a:r>
              <a:rPr sz="1800">
                <a:solidFill>
                  <a:srgbClr val="111827"/>
                </a:solidFill>
                <a:latin typeface="Calibri"/>
              </a:rPr>
              <a:t>▸  As the saying goes — Metal is forever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457200" y="1005840"/>
            <a:ext cx="7315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8046720" cy="822960"/>
          </a:xfrm>
          <a:prstGeom prst="rect">
            <a:avLst/>
          </a:prstGeom>
          <a:noFill/>
        </p:spPr>
        <p:txBody>
          <a:bodyPr wrap="square">
            <a:spAutoFit/>
          </a:bodyPr>
          <a:lstStyle/>
          <a:p>
            <a:pPr algn="l"/>
            <a:r>
              <a:rPr sz="2600" b="1">
                <a:solidFill>
                  <a:srgbClr val="111827"/>
                </a:solidFill>
                <a:latin typeface="Calibri"/>
              </a:rPr>
              <a:t>Thank You &amp; Questions</a:t>
            </a:r>
          </a:p>
        </p:txBody>
      </p:sp>
      <p:sp>
        <p:nvSpPr>
          <p:cNvPr id="4" name="Rectangle 3"/>
          <p:cNvSpPr/>
          <p:nvPr/>
        </p:nvSpPr>
        <p:spPr>
          <a:xfrm>
            <a:off x="457200" y="1051560"/>
            <a:ext cx="8229600" cy="27432"/>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8046720" cy="4389120"/>
          </a:xfrm>
          <a:prstGeom prst="rect">
            <a:avLst/>
          </a:prstGeom>
          <a:noFill/>
        </p:spPr>
        <p:txBody>
          <a:bodyPr wrap="square">
            <a:spAutoFit/>
          </a:bodyPr>
          <a:lstStyle/>
          <a:p>
            <a:pPr>
              <a:spcBef>
                <a:spcPts val="600"/>
              </a:spcBef>
            </a:pPr>
            <a:r>
              <a:rPr sz="1800">
                <a:solidFill>
                  <a:srgbClr val="111827"/>
                </a:solidFill>
                <a:latin typeface="Calibri"/>
              </a:rPr>
              <a:t>▸  Thank you for joining this journey through heavy metal history</a:t>
            </a:r>
          </a:p>
          <a:p>
            <a:pPr>
              <a:spcBef>
                <a:spcPts val="600"/>
              </a:spcBef>
            </a:pPr>
            <a:r>
              <a:rPr sz="1800">
                <a:solidFill>
                  <a:srgbClr val="111827"/>
                </a:solidFill>
                <a:latin typeface="Calibri"/>
              </a:rPr>
              <a:t>▸  Recommended listening playlist available upon request</a:t>
            </a:r>
          </a:p>
          <a:p>
            <a:pPr>
              <a:spcBef>
                <a:spcPts val="600"/>
              </a:spcBef>
            </a:pPr>
            <a:r>
              <a:rPr sz="1800">
                <a:solidFill>
                  <a:srgbClr val="111827"/>
                </a:solidFill>
                <a:latin typeface="Calibri"/>
              </a:rPr>
              <a:t>▸  Further reading: 'Sound of the Beast' by Ian Christe, 'Choosing Death' by Albert Mudrian</a:t>
            </a:r>
          </a:p>
          <a:p>
            <a:pPr>
              <a:spcBef>
                <a:spcPts val="600"/>
              </a:spcBef>
            </a:pPr>
            <a:r>
              <a:rPr sz="1800">
                <a:solidFill>
                  <a:srgbClr val="111827"/>
                </a:solidFill>
                <a:latin typeface="Calibri"/>
              </a:rPr>
              <a:t>▸  Let's open the floor for questions and discussion</a:t>
            </a:r>
          </a:p>
          <a:p>
            <a:pPr>
              <a:spcBef>
                <a:spcPts val="600"/>
              </a:spcBef>
            </a:pPr>
            <a:r>
              <a:rPr sz="1800">
                <a:solidFill>
                  <a:srgbClr val="111827"/>
                </a:solidFill>
                <a:latin typeface="Calibri"/>
              </a:rPr>
              <a:t>▸  🤘 Keep it heavy!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