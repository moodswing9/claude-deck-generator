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scale to establish Türkiye's economic significance. Emphasize that this is not an emerging market story — it is a major economy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clear expectations for the narrative arc. This keeps the executive audience oriented throughout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the diagnostic section. Frame this as an honest, balanced assessment of where Türkiye stands today before projecting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 balanced scorecard. Highlight the demographic dividend and the significance of the return to orthodox monetary policy under Governor Erkan and successor Karahan.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candid about headwinds. McKinsey-level work requires acknowledging structural issues before prescribing solutions. Each bullet represents a strategic blocker.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forward-looking, opportunity-driven section. This is the core strategic thesis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Showcase sectors where Türkiye has demonstrable momentum. The defense-tech corridor (Baykar, ASELSAN, TAI) is a globally recognized success story worth anchoring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Türkiye's geography as an economic asset. The Middle Corridor and energy hub narratives are central to the 2030 economic vision. Nearshoring is the most actionable near-term catalyst.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quote to bridge the geopolitical section into the policy prescription section. Acemoglu's Turkish heritage adds resonance and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actionable recommendations. Frame these as non-negotiable priorities for sustainable, investment-grade economic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imperatives map directly to the structural challenges identified earlier. This creates narrative coherence and demonstrates rigorous problem-solution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aspiration grounded in conditionality. This leaves the audience with both optimism and a clear call to action. The 'Top 10' target is from official government economic strategy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457200" cy="2377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91440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Future of Economics in Türkiye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0A0B0"/>
                </a:solidFill>
                <a:latin typeface="Calibri"/>
              </a:rPr>
              <a:t>Strategic Outlook for Growth, Resilience &amp; Global Positioning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0A0B0"/>
                </a:solidFill>
                <a:latin typeface="Calibri"/>
              </a:rPr>
              <a:t>A Rising Economic Force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60120"/>
            <a:ext cx="18288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E94560"/>
                </a:solidFill>
                <a:latin typeface="Calibri"/>
              </a:rPr>
              <a:t>$1.1T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Türkiye's GDP in 2023 — the world's 17th largest economy, positioned at the crossroads of Europe and Asia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212080" cy="182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Current economic landscape and structural realities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Strategic growth pillars driving the next decade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Policy imperatives and the path to 2030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Key risks, trade-offs, and closing perspective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2926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A1A2E"/>
                </a:solidFill>
                <a:latin typeface="Calibri"/>
              </a:rPr>
              <a:t>The Current Economic Landscape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Macroeconomic Fundamentals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212080" cy="182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Median age of 33.5 fuels a dynamic labor force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Inflation retreating from 85% peak under orthodox policy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Central bank credibility rebuilding after 2023 policy pivot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Current account deficit narrowing but remains structural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BIST-100 among top-performing global indices in 2023-24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2926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Structural Challenges Requiring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212080" cy="182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Lira volatility erodes investor confidence and FDI flows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Energy import dependency exceeds 70% of total consumption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Informal economy estimated at 25-30% of GDP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Savings rate among lowest in OECD peer group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Regulatory unpredictability raises cost of capital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2926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A1A2E"/>
                </a:solidFill>
                <a:latin typeface="Calibri"/>
              </a:rPr>
              <a:t>Strategic Growth Pillars for 2025–2035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Industrial Transformation &amp; Tech Economy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212080" cy="182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Defense &amp; aerospace exports tripled in five years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Türkiye's tech startup ecosystem now valued at $30B+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Automotive sector pivoting to EV manufacturing hub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Free zones and technoparks accelerating innovation clusters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Digital banking penetration among highest in Europe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2926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Geopolitical Leverage &amp; Trade Corridor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EU Customs Union modernization unlocks deeper market access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Middle Corridor positions Türkiye as China-Europe gateway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Energy hub strategy leverages gas from five source regions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G20 membership amplifies multilateral negotiating power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Nearshoring trend redirects supply chains toward Türkiye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E94560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Geography is not destiny — but for Türkiye, it is an extraordinary competitive advantage waiting to be fully monetized.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B0"/>
                </a:solidFill>
                <a:latin typeface="Calibri"/>
              </a:rPr>
              <a:t>— Adapted from Daron Acemoglu, MIT Economist &amp; 2024 Nobel Laureate of Turkish origin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97680"/>
            <a:ext cx="18288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A1A2E"/>
                </a:solidFill>
                <a:latin typeface="Calibri"/>
              </a:rPr>
              <a:t>The Path Forward: Policy Imperatives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Five Policy Imperatives for Sustainable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212080" cy="182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Maintain orthodox monetary policy to anchor inflation below 15%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Accelerate energy transition to reduce import dependency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Formalize the shadow economy through digital tax infrastructure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Strengthen rule of law to attract long-term institutional FDI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  Invest in workforce upskilling aligned to Industry 4.0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2926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0A0B0"/>
                </a:solidFill>
                <a:latin typeface="Calibri"/>
              </a:rPr>
              <a:t>The Prize: Türkiye 2030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60120"/>
            <a:ext cx="18288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E94560"/>
                </a:solidFill>
                <a:latin typeface="Calibri"/>
              </a:rPr>
              <a:t>Top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Türkiye's stated ambition to become a top-10 global economy by 2030 — achievable only with disciplined execution on structural reform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